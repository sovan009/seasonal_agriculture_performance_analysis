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42B9F3-FB46-41A6-A7EC-8A9D61EEB038}" v="339" dt="2026-09-08T20:43:09.375"/>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ovan009/Seasonal_Agriculture_Performanc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colab.research.google.com/drive/166Zww49hSkp-s7VEAGbIVGXQI_g3Cd3q?usp=sharin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37465" y="3542725"/>
            <a:ext cx="4718142" cy="861497"/>
          </a:xfrm>
        </p:spPr>
        <p:txBody>
          <a:bodyPr vert="horz" lIns="91440" tIns="45720" rIns="91440" bIns="45720" rtlCol="0" anchor="t">
            <a:noAutofit/>
          </a:bodyPr>
          <a:lstStyle/>
          <a:p>
            <a:pPr algn="r"/>
            <a:r>
              <a:rPr lang="en-US" sz="2400" b="0" dirty="0">
                <a:solidFill>
                  <a:schemeClr val="tx1"/>
                </a:solidFill>
              </a:rPr>
              <a:t>Name: Sovan Kar</a:t>
            </a:r>
            <a:endParaRPr lang="en-IN" sz="2400" b="0">
              <a:solidFill>
                <a:schemeClr val="tx1"/>
              </a:solidFill>
            </a:endParaRPr>
          </a:p>
          <a:p>
            <a:pPr algn="r"/>
            <a:r>
              <a:rPr lang="en-US" sz="2400" b="0" dirty="0">
                <a:solidFill>
                  <a:schemeClr val="tx1"/>
                </a:solidFill>
              </a:rPr>
              <a:t>College: Techno Main Salt Lake</a:t>
            </a:r>
            <a:endParaRPr lang="en-IN" sz="2400" b="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24155"/>
            <a:ext cx="8283557" cy="836123"/>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194244" y="4535280"/>
            <a:ext cx="5833063" cy="400110"/>
          </a:xfrm>
          <a:prstGeom prst="rect">
            <a:avLst/>
          </a:prstGeom>
          <a:noFill/>
        </p:spPr>
        <p:txBody>
          <a:bodyPr wrap="square" lIns="91440" tIns="45720" rIns="91440" bIns="45720" rtlCol="0" anchor="t">
            <a:spAutoFit/>
          </a:bodyPr>
          <a:lstStyle/>
          <a:p>
            <a:r>
              <a:rPr lang="en-US" sz="2000" b="1" dirty="0"/>
              <a:t>AICTE STU ID : </a:t>
            </a:r>
            <a:r>
              <a:rPr lang="en-US" sz="2000" dirty="0">
                <a:ea typeface="+mn-lt"/>
                <a:cs typeface="+mn-lt"/>
              </a:rPr>
              <a:t>STU6824a3b992e1e1747231673</a:t>
            </a:r>
            <a:endParaRPr lang="en-US" sz="2000" b="1" dirty="0"/>
          </a:p>
        </p:txBody>
      </p:sp>
      <p:sp>
        <p:nvSpPr>
          <p:cNvPr id="5" name="TextBox 4">
            <a:extLst>
              <a:ext uri="{FF2B5EF4-FFF2-40B4-BE49-F238E27FC236}">
                <a16:creationId xmlns:a16="http://schemas.microsoft.com/office/drawing/2014/main" id="{83340260-39EE-3D8B-2F5D-24E2B49B10E4}"/>
              </a:ext>
            </a:extLst>
          </p:cNvPr>
          <p:cNvSpPr txBox="1"/>
          <p:nvPr/>
        </p:nvSpPr>
        <p:spPr>
          <a:xfrm>
            <a:off x="552049" y="414036"/>
            <a:ext cx="886038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AICTE VOIS MAJOR PROJECT 2026-27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26828" y="2096425"/>
            <a:ext cx="7138062" cy="4104943"/>
          </a:xfrm>
          <a:ln>
            <a:solidFill>
              <a:srgbClr val="00B0F0"/>
            </a:solidFill>
          </a:ln>
        </p:spPr>
        <p:txBody>
          <a:bodyPr vert="horz" lIns="91440" tIns="45720" rIns="91440" bIns="45720" rtlCol="0" anchor="t">
            <a:normAutofit fontScale="92500"/>
          </a:bodyPr>
          <a:lstStyle/>
          <a:p>
            <a:r>
              <a:rPr lang="en-US" sz="2200" dirty="0"/>
              <a:t>Agricultural activities are influenced by seasonal variations in environmental conditions, farming practices, resource availability and market conditions. </a:t>
            </a:r>
            <a:endParaRPr lang="en-IN" sz="2200"/>
          </a:p>
          <a:p>
            <a:r>
              <a:rPr lang="en-US" sz="2200" dirty="0"/>
              <a:t>As a result, agricultural performance may differ from one season to another. However, raw agricultural data does not clearly explain how agricultural performance changes across seasons or what patterns can be observed in different seasonal conditions. </a:t>
            </a:r>
            <a:endParaRPr lang="en-IN" sz="2200"/>
          </a:p>
          <a:p>
            <a:pPr>
              <a:lnSpc>
                <a:spcPct val="100000"/>
              </a:lnSpc>
            </a:pPr>
            <a:r>
              <a:rPr lang="en-US" sz="2200" dirty="0"/>
              <a:t>The problem is to analyze the given agricultural dataset and investigate seasonal differences in agricultural performance by identifying meaningful patterns, trends, relationships and variations within the available data</a:t>
            </a:r>
            <a:r>
              <a:rPr lang="en-US" sz="2800" dirty="0"/>
              <a:t>.</a:t>
            </a:r>
            <a:endParaRPr lang="en-IN" sz="28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84921" y="805213"/>
            <a:ext cx="10175478" cy="5396956"/>
          </a:xfrm>
          <a:ln>
            <a:solidFill>
              <a:srgbClr val="00B0F0"/>
            </a:solidFill>
          </a:ln>
        </p:spPr>
        <p:txBody>
          <a:bodyPr>
            <a:normAutofit/>
          </a:bodyPr>
          <a:lstStyle/>
          <a:p>
            <a:r>
              <a:rPr lang="en-GB" dirty="0"/>
              <a:t>Project Description</a:t>
            </a:r>
          </a:p>
          <a:p>
            <a:pPr algn="just">
              <a:lnSpc>
                <a:spcPct val="130000"/>
              </a:lnSpc>
              <a:spcBef>
                <a:spcPts val="1800"/>
              </a:spcBef>
            </a:pPr>
            <a:r>
              <a:rPr lang="en-US" sz="2100" b="0" dirty="0"/>
              <a:t>This project analyzes 4,000 farm records spanning 8 Indian states, 8 crops, and three cropping seasons – Kharif, Rabi, and Zaid – to understand how seasonal conditions shape agricultural performance.</a:t>
            </a:r>
          </a:p>
          <a:p>
            <a:pPr algn="just">
              <a:lnSpc>
                <a:spcPct val="130000"/>
              </a:lnSpc>
              <a:spcBef>
                <a:spcPts val="1200"/>
              </a:spcBef>
            </a:pPr>
            <a:r>
              <a:rPr lang="en-US" sz="2100" b="0" dirty="0"/>
              <a:t>Using Python (Pandas, Seaborn, SciPy) in Google Colab, the data is cleaned, explored, and visualized to compare yield, resource usage, and economic outcomes across seasons, with one-way ANOVA used to statistically validate the differences observed.</a:t>
            </a:r>
          </a:p>
          <a:p>
            <a:pPr algn="just">
              <a:lnSpc>
                <a:spcPct val="130000"/>
              </a:lnSpc>
              <a:spcBef>
                <a:spcPts val="1200"/>
              </a:spcBef>
            </a:pPr>
            <a:r>
              <a:rPr lang="en-US" sz="2100" b="0" dirty="0"/>
              <a:t>The result is a set of evidence-based, season-specific insights and recommendations to support better agricultural planning.</a:t>
            </a:r>
            <a:endParaRPr lang="en-IN" sz="2100" b="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82143"/>
            <a:ext cx="8986741" cy="4663674"/>
          </a:xfrm>
          <a:ln>
            <a:solidFill>
              <a:srgbClr val="00B0F0"/>
            </a:solidFill>
          </a:ln>
        </p:spPr>
        <p:txBody>
          <a:bodyPr vert="horz" lIns="91440" tIns="45720" rIns="91440" bIns="45720" rtlCol="0" anchor="t">
            <a:noAutofit/>
          </a:bodyPr>
          <a:lstStyle/>
          <a:p>
            <a:pPr algn="l">
              <a:lnSpc>
                <a:spcPct val="150000"/>
              </a:lnSpc>
            </a:pPr>
            <a:r>
              <a:rPr lang="en-US" sz="2200" b="1" dirty="0"/>
              <a:t>Farmers &amp; agricultural cooperatives</a:t>
            </a:r>
            <a:r>
              <a:rPr lang="en-US" sz="2200" b="0" dirty="0"/>
              <a:t> – season-wise crop, irrigation, and resource planning</a:t>
            </a:r>
          </a:p>
          <a:p>
            <a:pPr algn="l">
              <a:lnSpc>
                <a:spcPct val="150000"/>
              </a:lnSpc>
            </a:pPr>
            <a:r>
              <a:rPr lang="en-US" sz="2200" b="1" dirty="0"/>
              <a:t>State agriculture departments</a:t>
            </a:r>
            <a:r>
              <a:rPr lang="en-US" sz="2200" b="0" dirty="0"/>
              <a:t> – evidence-based policy and subsidy planning</a:t>
            </a:r>
          </a:p>
          <a:p>
            <a:pPr algn="l">
              <a:lnSpc>
                <a:spcPct val="150000"/>
              </a:lnSpc>
            </a:pPr>
            <a:r>
              <a:rPr lang="en-US" sz="2200" b="1" dirty="0"/>
              <a:t>Agri-input &amp; agtech companies</a:t>
            </a:r>
            <a:r>
              <a:rPr lang="en-US" sz="2200" b="0" dirty="0"/>
              <a:t> – targeting products by season and region</a:t>
            </a:r>
          </a:p>
          <a:p>
            <a:pPr algn="l">
              <a:lnSpc>
                <a:spcPct val="150000"/>
              </a:lnSpc>
            </a:pPr>
            <a:r>
              <a:rPr lang="en-US" sz="2200" b="1" dirty="0"/>
              <a:t>Researchers &amp; data analysts</a:t>
            </a:r>
            <a:r>
              <a:rPr lang="en-US" sz="2200" b="0" dirty="0"/>
              <a:t> – a benchmark dataset for further agricultural studies</a:t>
            </a:r>
            <a:endParaRPr lang="en-IN" sz="220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00200" y="1432560"/>
            <a:ext cx="7518320" cy="3874057"/>
          </a:xfrm>
          <a:ln>
            <a:solidFill>
              <a:srgbClr val="00B0F0"/>
            </a:solidFill>
          </a:ln>
        </p:spPr>
        <p:txBody>
          <a:bodyPr vert="horz" lIns="91440" tIns="45720" rIns="91440" bIns="45720" rtlCol="0" anchor="t">
            <a:noAutofit/>
          </a:bodyPr>
          <a:lstStyle/>
          <a:p>
            <a:pPr lvl="1" algn="l">
              <a:lnSpc>
                <a:spcPct val="150000"/>
              </a:lnSpc>
            </a:pPr>
            <a:r>
              <a:rPr lang="en-US" sz="2200" b="1" dirty="0"/>
              <a:t>Python</a:t>
            </a:r>
            <a:r>
              <a:rPr lang="en-US" sz="2200" b="0" dirty="0"/>
              <a:t> – Pandas &amp; NumPy for data cleaning and analysis</a:t>
            </a:r>
          </a:p>
          <a:p>
            <a:pPr lvl="1" algn="l">
              <a:lnSpc>
                <a:spcPct val="150000"/>
              </a:lnSpc>
            </a:pPr>
            <a:r>
              <a:rPr lang="en-US" sz="2200" b="1" dirty="0"/>
              <a:t>Matplotlib &amp; Seaborn</a:t>
            </a:r>
            <a:r>
              <a:rPr lang="en-US" sz="2200" b="0" dirty="0"/>
              <a:t> – statistical visualization</a:t>
            </a:r>
          </a:p>
          <a:p>
            <a:pPr lvl="1" algn="l">
              <a:lnSpc>
                <a:spcPct val="150000"/>
              </a:lnSpc>
            </a:pPr>
            <a:r>
              <a:rPr lang="en-US" sz="2200" b="1" dirty="0"/>
              <a:t>SciPy</a:t>
            </a:r>
            <a:r>
              <a:rPr lang="en-US" sz="2200" b="0" dirty="0"/>
              <a:t> – one-way ANOVA for statistical validation</a:t>
            </a:r>
          </a:p>
          <a:p>
            <a:pPr lvl="1" algn="l">
              <a:lnSpc>
                <a:spcPct val="150000"/>
              </a:lnSpc>
            </a:pPr>
            <a:r>
              <a:rPr lang="en-US" sz="2200" b="1" dirty="0"/>
              <a:t>Google Colab</a:t>
            </a:r>
            <a:r>
              <a:rPr lang="en-US" sz="2200" b="0" dirty="0"/>
              <a:t> – cloud notebook environment</a:t>
            </a:r>
          </a:p>
          <a:p>
            <a:pPr lvl="1" algn="l">
              <a:lnSpc>
                <a:spcPct val="150000"/>
              </a:lnSpc>
            </a:pPr>
            <a:r>
              <a:rPr lang="en-US" sz="2200" b="1" dirty="0"/>
              <a:t>GitHub</a:t>
            </a:r>
            <a:r>
              <a:rPr lang="en-US" sz="2200" b="0" dirty="0"/>
              <a:t> – version control and project submission</a:t>
            </a:r>
            <a:endParaRPr lang="en-IN" sz="220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8500000" cy="450000"/>
          </a:xfrm>
          <a:prstGeom prst="rect">
            <a:avLst/>
          </a:prstGeom>
          <a:ln>
            <a:solidFill>
              <a:srgbClr val="00B0F0"/>
            </a:solidFill>
          </a:ln>
        </p:spPr>
        <p:txBody>
          <a:bodyPr vert="horz" lIns="91440" tIns="45720" rIns="91440" bIns="45720" rtlCol="0" anchor="t">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b="1" dirty="0"/>
              <a:t>Q1 – Seasonal Performance Overview (Yield, Production &amp; Profit)</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696000" y="2652500"/>
            <a:ext cx="10800000" cy="2945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8500000" cy="450000"/>
          </a:xfrm>
          <a:prstGeom prst="rect">
            <a:avLst/>
          </a:prstGeom>
          <a:ln>
            <a:solidFill>
              <a:srgbClr val="00B0F0"/>
            </a:solidFill>
          </a:ln>
        </p:spPr>
        <p:txBody>
          <a:bodyPr vert="horz" lIns="91440" tIns="45720" rIns="91440" bIns="45720" rtlCol="0" anchor="t">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b="1" dirty="0"/>
              <a:t>Q6 – Environment–Performance Correlations by Season</a:t>
            </a:r>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320522" y="2628478"/>
            <a:ext cx="10800000" cy="323600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8500000" cy="450000"/>
          </a:xfrm>
          <a:prstGeom prst="rect">
            <a:avLst/>
          </a:prstGeom>
          <a:ln>
            <a:solidFill>
              <a:srgbClr val="00B0F0"/>
            </a:solidFill>
          </a:ln>
        </p:spPr>
        <p:txBody>
          <a:bodyPr vert="horz" lIns="91440" tIns="45720" rIns="91440" bIns="45720" rtlCol="0" anchor="t">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b="1" dirty="0"/>
              <a:t>Q7 – Economic Outcomes &amp; Loss-Making Farms by Season</a:t>
            </a: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696000" y="2127000"/>
            <a:ext cx="10800000" cy="3996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8500000" cy="4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1600" b="1" dirty="0"/>
              <a:t>Q8 – Regional Consistency: Yield by State &amp; Season</a:t>
            </a:r>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2512875" y="1850000"/>
            <a:ext cx="7166250" cy="4550000"/>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style>
          <a:lnRef idx="2">
            <a:schemeClr val="accent3"/>
          </a:lnRef>
          <a:fillRef idx="1">
            <a:schemeClr val="lt1"/>
          </a:fillRef>
          <a:effectRef idx="0">
            <a:schemeClr val="accent3"/>
          </a:effectRef>
          <a:fontRef idx="minor">
            <a:schemeClr val="dk1"/>
          </a:fontRef>
        </p:style>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8500000" cy="450000"/>
          </a:xfrm>
          <a:prstGeom prst="rect">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t">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b="1" dirty="0"/>
              <a:t>Q9 – Unusual Patterns: Disease/Pest Risk by Season</a:t>
            </a: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Result Chart"/>
          <p:cNvPicPr>
            <a:picLocks noChangeAspect="1"/>
          </p:cNvPicPr>
          <p:nvPr/>
        </p:nvPicPr>
        <p:blipFill>
          <a:blip r:embed="rId3"/>
          <a:stretch>
            <a:fillRect/>
          </a:stretch>
        </p:blipFill>
        <p:spPr>
          <a:xfrm>
            <a:off x="2267175" y="1850000"/>
            <a:ext cx="7657650" cy="4550000"/>
          </a:xfrm>
          <a:prstGeom prst="rect">
            <a:avLst/>
          </a:prstGeom>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2150000"/>
            <a:ext cx="3553387" cy="1609826"/>
          </a:xfrm>
          <a:prstGeom prst="rect">
            <a:avLst/>
          </a:prstGeom>
          <a:ln>
            <a:solidFill>
              <a:srgbClr val="00B0F0"/>
            </a:solidFill>
          </a:ln>
        </p:spPr>
        <p:txBody>
          <a:bodyPr vert="horz" lIns="91440" tIns="45720" rIns="91440" bIns="45720" rtlCol="0" anchor="t">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2300" b="1" dirty="0"/>
              <a:t>Real-time seasonal advisory dashboard</a:t>
            </a:r>
          </a:p>
          <a:p>
            <a:pPr algn="ctr"/>
            <a:r>
              <a:rPr lang="en-US" sz="2300" b="0" dirty="0"/>
              <a:t>Live weather &amp; mandi price API integration</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2150000"/>
            <a:ext cx="4547299" cy="1609826"/>
          </a:xfrm>
          <a:prstGeom prst="rect">
            <a:avLst/>
          </a:prstGeom>
          <a:ln>
            <a:solidFill>
              <a:srgbClr val="00B0F0"/>
            </a:solidFill>
          </a:ln>
        </p:spPr>
        <p:txBody>
          <a:bodyPr vert="horz" lIns="91440" tIns="45720" rIns="91440" bIns="45720" rtlCol="0" anchor="t">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2300" b="1" dirty="0"/>
              <a:t>ML-based yield &amp; price forecasting</a:t>
            </a:r>
          </a:p>
          <a:p>
            <a:pPr algn="ctr"/>
            <a:r>
              <a:rPr lang="en-US" sz="2300" b="0" dirty="0"/>
              <a:t>State &amp; crop-specific policy recommendations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4039" y="2058755"/>
            <a:ext cx="7497917" cy="769441"/>
          </a:xfrm>
          <a:prstGeom prst="rect">
            <a:avLst/>
          </a:prstGeom>
          <a:noFill/>
          <a:ln>
            <a:solidFill>
              <a:srgbClr val="00B0F0"/>
            </a:solidFill>
          </a:ln>
        </p:spPr>
        <p:txBody>
          <a:bodyPr wrap="square" lIns="91440" tIns="45720" rIns="91440" bIns="45720" anchor="t">
            <a:spAutoFit/>
          </a:bodyPr>
          <a:lstStyle/>
          <a:p>
            <a:r>
              <a:rPr lang="en-US" sz="2200" dirty="0"/>
              <a:t>GitHub: </a:t>
            </a:r>
            <a:r>
              <a:rPr lang="en-US" sz="2200" dirty="0">
                <a:hlinkClick r:id="rId3"/>
              </a:rPr>
              <a:t>https://github.com/Sovan/Seasonal_Agriculture_Performance_Analysis.git</a:t>
            </a:r>
            <a:endParaRPr lang="en-US" sz="2200" dirty="0"/>
          </a:p>
        </p:txBody>
      </p:sp>
      <p:sp>
        <p:nvSpPr>
          <p:cNvPr id="2" name="TextBox 1">
            <a:extLst>
              <a:ext uri="{FF2B5EF4-FFF2-40B4-BE49-F238E27FC236}">
                <a16:creationId xmlns:a16="http://schemas.microsoft.com/office/drawing/2014/main" id="{C8ED7111-CC6F-C311-D758-BAFB7086C909}"/>
              </a:ext>
            </a:extLst>
          </p:cNvPr>
          <p:cNvSpPr txBox="1"/>
          <p:nvPr/>
        </p:nvSpPr>
        <p:spPr>
          <a:xfrm>
            <a:off x="673476" y="3163236"/>
            <a:ext cx="8659180" cy="1107996"/>
          </a:xfrm>
          <a:prstGeom prst="rect">
            <a:avLst/>
          </a:prstGeom>
          <a:noFill/>
          <a:ln>
            <a:solidFill>
              <a:srgbClr val="00B0F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err="1"/>
              <a:t>Colab</a:t>
            </a:r>
            <a:r>
              <a:rPr lang="en-US" sz="2200" dirty="0"/>
              <a:t> Link : </a:t>
            </a:r>
            <a:r>
              <a:rPr lang="en-US" sz="2200" dirty="0">
                <a:hlinkClick r:id="rId4"/>
              </a:rPr>
              <a:t>https://colab.research.google.com/drive/166Zww49hSkp-s7VEAGbIVGXQI_g3Cd3q?usp=sharing</a:t>
            </a:r>
            <a:endParaRPr lang="en-US" sz="22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48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descr="A certificate of completion with red text and a red ribbon&#10;&#10;AI-generated content may be incorrect.">
            <a:extLst>
              <a:ext uri="{FF2B5EF4-FFF2-40B4-BE49-F238E27FC236}">
                <a16:creationId xmlns:a16="http://schemas.microsoft.com/office/drawing/2014/main" id="{F9FFB106-E3BB-6552-196C-9A43B8AFEA17}"/>
              </a:ext>
            </a:extLst>
          </p:cNvPr>
          <p:cNvPicPr>
            <a:picLocks noChangeAspect="1"/>
          </p:cNvPicPr>
          <p:nvPr/>
        </p:nvPicPr>
        <p:blipFill>
          <a:blip r:embed="rId3"/>
          <a:stretch>
            <a:fillRect/>
          </a:stretch>
        </p:blipFill>
        <p:spPr>
          <a:xfrm>
            <a:off x="675272" y="1137478"/>
            <a:ext cx="7749283" cy="543339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8656435" cy="1075592"/>
          </a:xfrm>
          <a:prstGeom prst="rect">
            <a:avLst/>
          </a:prstGeom>
          <a:ln>
            <a:solidFill>
              <a:srgbClr val="00B0F0"/>
            </a:solidFill>
          </a:ln>
        </p:spPr>
        <p:txBody>
          <a:bodyPr vert="horz" lIns="91440" tIns="45720" rIns="91440" bIns="45720" rtlCol="0" anchor="ctr">
            <a:noAutofit/>
          </a:bodyPr>
          <a:lstStyle/>
          <a:p>
            <a:pPr algn="ctr"/>
            <a:r>
              <a:rPr lang="en-US" sz="2400" b="1" dirty="0">
                <a:solidFill>
                  <a:schemeClr val="tx1"/>
                </a:solidFill>
              </a:rPr>
              <a:t>Thank you to Ashwini sir and Amisha Ma'am to guide me all the time in this internship period</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2" name="Picture 1" descr="A pink watercolor with black text&#10;&#10;AI-generated content may be incorrect.">
            <a:extLst>
              <a:ext uri="{FF2B5EF4-FFF2-40B4-BE49-F238E27FC236}">
                <a16:creationId xmlns:a16="http://schemas.microsoft.com/office/drawing/2014/main" id="{D43384D0-C2B7-651D-1A20-C88D1E297E2B}"/>
              </a:ext>
            </a:extLst>
          </p:cNvPr>
          <p:cNvPicPr>
            <a:picLocks noChangeAspect="1"/>
          </p:cNvPicPr>
          <p:nvPr/>
        </p:nvPicPr>
        <p:blipFill>
          <a:blip r:embed="rId3"/>
          <a:stretch>
            <a:fillRect/>
          </a:stretch>
        </p:blipFill>
        <p:spPr>
          <a:xfrm>
            <a:off x="1750393" y="2065130"/>
            <a:ext cx="8812695" cy="4605131"/>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This project analyzes 4,000 farm records spanning 8 Indian states, 8 crops, and three cropping seasons – Kharif, Rabi, and Zaid – to understand how seasonal conditions shape agricultural performance. Using Python (Pandas, Seaborn, SciPy) in Google Colab, the data is cleaned, explored, and visualized to compare yield, resource usage, and economic outcomes across seasons, with one-way ANOVA used to statistically validate the differences observed. The result is a set of evidence-based, season-specific insights and recommendations to support better agricultural planning.</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 to Ashwini sir and Amisha Ma'am to guide me all the time in this internship period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203</cp:revision>
  <dcterms:created xsi:type="dcterms:W3CDTF">2021-07-11T13:13:15Z</dcterms:created>
  <dcterms:modified xsi:type="dcterms:W3CDTF">2026-09-08T20:45:07Z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